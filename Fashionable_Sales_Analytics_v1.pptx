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9" r:id="rId10"/>
    <p:sldId id="270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73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as an end-to-end pipeline: CSV to DuckDB to dbt to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quickly before diving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need: marketeers want self-serve answers without writing SQL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tools, simple linear flow. Emphasize DuckDB as the single source of truth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pipeline, easy to reason about. Each arrow represents a clear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surrogate keys needed extra columns — same SKU had multiple ASINs, same order_id had multiple courier statuses.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spoke. Emphasize that every measure (qty, amount) lives only in the fact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KPI cards first, then revenue trend, then the two breakdown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matrix at the end — conditional formatting makes the top combination instantly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cancellation hotspot chart to segue into operational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finding ties directly to a chart shown in the previous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scope cut for time, not as gaps in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82880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Fashionable Sales Analytics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72653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FI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Data Engineering case study comprises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Kimball-style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</a:t>
            </a:r>
            <a:r>
              <a:rPr lang="en-FI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and dbt, </a:t>
            </a:r>
            <a:r>
              <a:rPr lang="en-FI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FI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marketing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en-FI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300" i="1" dirty="0" smtClean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 Krishnakumar</a:t>
            </a:r>
            <a:endParaRPr lang="en-US" sz="13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" y="666531"/>
            <a:ext cx="2572786" cy="14033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: </a:t>
            </a:r>
            <a:r>
              <a:rPr lang="en-US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model, testing and CI, pipeline, dashboard, findings, next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Approach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marketeers need to know and why a star schema helps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2240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651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ingestion, DuckDB storage, dbt layers, environment setup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Power BI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5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and </a:t>
            </a:r>
            <a:r>
              <a:rPr lang="en-US" sz="15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069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star schema with Type 2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Changing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marts, full dbt tests and CI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4069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pages: Sales Overview,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Operation/Quality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Insights</a:t>
            </a:r>
            <a:r>
              <a:rPr lang="en-FI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</a:t>
            </a:r>
            <a:r>
              <a:rPr lang="en-US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FI" sz="11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Insights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120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5486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about customers, products and regions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8920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5120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50749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5486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add with more time or more data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marketeers need to ask Fashionable's sales data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star schema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chosen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5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business level </a:t>
            </a:r>
            <a:r>
              <a:rPr lang="en-US" sz="15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en-FI" sz="15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500" b="1" dirty="0" err="1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styles and categories sell best in a given </a:t>
            </a:r>
            <a:r>
              <a:rPr lang="en-FI" sz="1250" dirty="0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r>
              <a:rPr lang="en-US" sz="1250" dirty="0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sales trend across seasons?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8404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cancellation rates vary by shipping tier?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and cities drive the most revenue?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9377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promotions actually move order volume?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486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486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B2B or B2C revenue more significant?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01168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13294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340864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496312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foundation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315200" y="254203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Kimball star schema so every metric is computed once, consistently, and is easy to trust.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3456432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13294B"/>
          </a:solidFill>
          <a:ln/>
        </p:spPr>
      </p:sp>
      <p:sp>
        <p:nvSpPr>
          <p:cNvPr id="25" name="Shape 22"/>
          <p:cNvSpPr/>
          <p:nvPr/>
        </p:nvSpPr>
        <p:spPr>
          <a:xfrm>
            <a:off x="6492240" y="3785616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941064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3621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BI-ready marts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7315200" y="398678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clean fact and dimension tables </a:t>
            </a:r>
            <a:r>
              <a:rPr lang="en-FI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build simple BI marts </a:t>
            </a:r>
            <a:r>
              <a:rPr lang="en-FI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never </a:t>
            </a:r>
            <a:r>
              <a:rPr lang="en-US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r>
              <a:rPr lang="en-FI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heavy</a:t>
            </a:r>
            <a:r>
              <a:rPr lang="en-US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63640" y="490118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13294B"/>
          </a:solidFill>
          <a:ln/>
        </p:spPr>
      </p:sp>
      <p:sp>
        <p:nvSpPr>
          <p:cNvPr id="30" name="Shape 26"/>
          <p:cNvSpPr/>
          <p:nvPr/>
        </p:nvSpPr>
        <p:spPr>
          <a:xfrm>
            <a:off x="6492240" y="523036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5385816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315200" y="50657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analysis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7315200" y="543153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marketeers slice by </a:t>
            </a:r>
            <a:r>
              <a:rPr lang="en-FI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other </a:t>
            </a:r>
            <a:r>
              <a:rPr lang="en-US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writing SQL.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5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F5C6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933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FI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iscovers </a:t>
            </a: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in </a:t>
            </a:r>
            <a:r>
              <a:rPr lang="en-FI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storage</a:t>
            </a:r>
            <a:r>
              <a:rPr lang="en-US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clean column names, loads it into DuckDB as raw_sales.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E2C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933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49224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2240" y="3108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 report built on 12 business marts exported as Parquet. No relationships between marts, conformed dimension lookup tables drive cross page slicers instead.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F5C3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336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46908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22960" y="50566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2960" y="5349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analytical database. Single .duckdb file holds raw, staging and mart layers.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6B4A2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3367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46908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492240" y="50566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92240" y="5349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layer transformation: staging, intermediate, snapshots for Type 2 history, then marts (Kimball model, star schema, BI ready).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</a:t>
            </a: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Power BI dashboard in four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05456" cy="356616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Fashionable Sale Report.csv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048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FI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with </a:t>
            </a:r>
            <a:r>
              <a:rPr lang="en-US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covering order, product, shipping and promotion </a:t>
            </a:r>
            <a:r>
              <a:rPr lang="en-US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r>
              <a:rPr lang="en-FI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one unnamed column ignored 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36118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38144" y="2057400"/>
            <a:ext cx="2505456" cy="356616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6744" y="2286000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sp>
        <p:nvSpPr>
          <p:cNvPr id="14" name="Text 12"/>
          <p:cNvSpPr/>
          <p:nvPr/>
        </p:nvSpPr>
        <p:spPr>
          <a:xfrm>
            <a:off x="3666744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66744" y="29260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raw_sales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66744" y="342900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load_to_duckdb.py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66744" y="3840480"/>
            <a:ext cx="2048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FI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for d</a:t>
            </a:r>
            <a:r>
              <a:rPr lang="en-US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iscovers 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CSV, assigns column names, writes raw_sales table. </a:t>
            </a:r>
            <a:r>
              <a:rPr lang="en-US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tests run on load.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52744" y="36118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27648" y="2057400"/>
            <a:ext cx="2505456" cy="356616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2286000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56248" y="29260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Layers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56248" y="342900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 -&gt; int -&gt; snapshots -&gt; marts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56248" y="3840480"/>
            <a:ext cx="2048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staging view, 1 intermediate view, 2 Type 2 snapshots, then marts: 5 core tables plus 12 business marts, Kimball star schema.</a:t>
            </a:r>
            <a:endParaRPr lang="en-FI" sz="1050" dirty="0" smtClean="0">
              <a:solidFill>
                <a:srgbClr val="5B6B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FI" sz="1050" dirty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d</a:t>
            </a:r>
            <a:r>
              <a:rPr lang="en-FI" sz="1050" dirty="0" smtClean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bt tests, a model contract and a GitHub Actions CI check cover the project end to end; mart data exported as Parquet.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42248" y="36118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217152" y="2057400"/>
            <a:ext cx="2505456" cy="356616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45752" y="2286000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sp>
        <p:nvSpPr>
          <p:cNvPr id="28" name="Text 26"/>
          <p:cNvSpPr/>
          <p:nvPr/>
        </p:nvSpPr>
        <p:spPr>
          <a:xfrm>
            <a:off x="9445752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45752" y="29260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45752" y="342900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→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45752" y="3840480"/>
            <a:ext cx="2048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FI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data imported from Parquet exports as separate tables</a:t>
            </a:r>
            <a:r>
              <a:rPr lang="en-US" sz="10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 between marts; a conformed dimension table drives synced slicers across all 3 pages instead.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Setup: Git, dbt and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to run this project end to end, from a clean machine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9514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then clone or initialise the repository holding the dbt project, tests, macros and this deck's source files.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29514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dbt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53712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any IDE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pip install dbt-core and dbt-duckdb. Verify exact versions against current docs before relying on any command.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9514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3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dbt dependencies</a:t>
            </a:r>
          </a:p>
        </p:txBody>
      </p:sp>
      <p:sp>
        <p:nvSpPr>
          <p:cNvPr id="19" name="Text 14"/>
          <p:cNvSpPr/>
          <p:nvPr/>
        </p:nvSpPr>
        <p:spPr>
          <a:xfrm>
            <a:off x="8330184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dbt deps to download dbt_utils and dbt_expectations, the two packages this project's tests and macros depend 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5354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profiles.yml</a:t>
            </a:r>
            <a:r>
              <a:rPr lang="en-FI" sz="130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dbt_project.yml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local profiles.yml pointing at the project's DuckDB file. It stays gitignored on purpose since it can hold connection details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add dbt_project.yml file for project related data and for docs.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53542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 matters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5371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staging and intermediate models and then 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before dbt run, every time, so Type 2 history is captured before marts rebuild from it. Then dbt test.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53542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0184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0184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each mart's Parquet export as its own table, delete any auto detected relationships, and set ratio columns to Don't summarize.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FI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IN" sz="3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emantic</a:t>
            </a:r>
            <a:r>
              <a:rPr lang="en-IN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N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</a:t>
            </a:r>
            <a:r>
              <a:rPr lang="en-IN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r>
              <a:rPr lang="en-FI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</a:t>
            </a:r>
            <a:r>
              <a:rPr lang="en-IN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FI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</a:t>
            </a: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staging -&gt; intermediate -&gt; snapshots -&gt; marts (1 fact table, 4 dimension tables, 12 business marts)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E8ECF3"/>
          </a:solidFill>
          <a:ln w="9525">
            <a:solidFill>
              <a:srgbClr val="2A35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96596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raw_sales</a:t>
            </a:r>
            <a:r>
              <a:rPr lang="en-US" sz="120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FI" sz="1200" dirty="0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as-is from the CSV by the Python script, no transformation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2953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CFE3DE"/>
          </a:solidFill>
          <a:ln w="9525">
            <a:solidFill>
              <a:srgbClr val="0F46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5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+ INTERMEDIATE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776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 err="1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stg_fashionable_sales</a:t>
            </a:r>
            <a:r>
              <a:rPr lang="en-US" sz="1200" dirty="0" smtClean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dirty="0" err="1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int_sales_enriched</a:t>
            </a:r>
            <a:r>
              <a:rPr lang="en-US" sz="120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typed, cleaned, deduplicated, then business rules and surrogate keys added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4233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DCD3EF"/>
          </a:solidFill>
          <a:ln w="9525">
            <a:solidFill>
              <a:srgbClr val="3C2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36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C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5056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+ 12 business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452628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3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dim_date, dim_product, dim_ship_location, dim_fulfilment, fct_order_lines, feeding 12 business marts, BI ready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6350">
            <a:solidFill>
              <a:srgbClr val="C99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7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note:  </a:t>
            </a:r>
            <a:r>
              <a:rPr lang="en-US" sz="1050" dirty="0">
                <a:solidFill>
                  <a:srgbClr val="5C4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history is tracked with dbt snapshots on dim_product and dim_ship_location, each with an explicit Unknown member row so a fact line never carries a null foreign key. fct_order_lines is incremental with a dbt model contract enforced, backed by generic, custom and singular tests plus a GitHub Actions CI check.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7039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7198" y="195055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</a:t>
            </a:r>
            <a:r>
              <a:rPr lang="en-FI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Entity</a:t>
            </a:r>
            <a:r>
              <a:rPr lang="en-FI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Relationship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2061" y="117533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</a:t>
            </a:r>
            <a:r>
              <a:rPr lang="en-US" sz="1300" b="1" i="1" dirty="0" err="1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fct_order_lines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 around. Every dimension joins via a surrogate key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3063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fct_order_lines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691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grpSp>
        <p:nvGrpSpPr>
          <p:cNvPr id="26" name="Group 25"/>
          <p:cNvGrpSpPr/>
          <p:nvPr/>
        </p:nvGrpSpPr>
        <p:grpSpPr>
          <a:xfrm>
            <a:off x="938032" y="3447288"/>
            <a:ext cx="2468881" cy="1399032"/>
            <a:chOff x="502920" y="2926080"/>
            <a:chExt cx="3291840" cy="1783080"/>
          </a:xfrm>
        </p:grpSpPr>
        <p:grpSp>
          <p:nvGrpSpPr>
            <p:cNvPr id="25" name="Group 24"/>
            <p:cNvGrpSpPr/>
            <p:nvPr/>
          </p:nvGrpSpPr>
          <p:grpSpPr>
            <a:xfrm>
              <a:off x="502920" y="2926080"/>
              <a:ext cx="3291840" cy="1783080"/>
              <a:chOff x="502920" y="2926080"/>
              <a:chExt cx="3291840" cy="1783080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502920" y="2926080"/>
                <a:ext cx="3291840" cy="178308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19050">
                <a:solidFill>
                  <a:srgbClr val="0F6E56"/>
                </a:solidFill>
                <a:prstDash val="solid"/>
              </a:ln>
              <a:effectLst>
                <a:outerShdw blurRad="63500" dist="25400" dir="5400000" algn="bl" rotWithShape="0">
                  <a:srgbClr val="1B2A41">
                    <a:alpha val="8000"/>
                  </a:srgbClr>
                </a:outerShdw>
              </a:effectLst>
            </p:spPr>
          </p:sp>
          <p:sp>
            <p:nvSpPr>
              <p:cNvPr id="14" name="Shape 12"/>
              <p:cNvSpPr/>
              <p:nvPr/>
            </p:nvSpPr>
            <p:spPr>
              <a:xfrm>
                <a:off x="502920" y="2926080"/>
                <a:ext cx="3291840" cy="384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/>
            </p:spPr>
          </p:sp>
          <p:sp>
            <p:nvSpPr>
              <p:cNvPr id="15" name="Text 13"/>
              <p:cNvSpPr/>
              <p:nvPr/>
            </p:nvSpPr>
            <p:spPr>
              <a:xfrm>
                <a:off x="502920" y="2926080"/>
                <a:ext cx="32918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dim_product</a:t>
                </a:r>
                <a:endParaRPr lang="en-US" sz="1250" dirty="0"/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667512" y="3383280"/>
              <a:ext cx="2962656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sku (PK), Type 2 history</a:t>
              </a:r>
              <a:endParaRPr lang="en-US" sz="9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style, category, size</a:t>
              </a:r>
              <a:endParaRPr lang="en-US" sz="9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asin, valid_from, valid_to, is_current</a:t>
              </a:r>
              <a:endParaRPr lang="en-US" sz="95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409597" y="3421263"/>
            <a:ext cx="2563203" cy="1399032"/>
            <a:chOff x="8412480" y="2926080"/>
            <a:chExt cx="3291840" cy="1783080"/>
          </a:xfrm>
        </p:grpSpPr>
        <p:sp>
          <p:nvSpPr>
            <p:cNvPr id="17" name="Shape 15"/>
            <p:cNvSpPr/>
            <p:nvPr/>
          </p:nvSpPr>
          <p:spPr>
            <a:xfrm>
              <a:off x="8412480" y="2926080"/>
              <a:ext cx="3291840" cy="178308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9050">
              <a:solidFill>
                <a:srgbClr val="0F6E56"/>
              </a:solidFill>
              <a:prstDash val="solid"/>
            </a:ln>
            <a:effectLst>
              <a:outerShdw blurRad="63500" dist="25400" dir="5400000" algn="bl" rotWithShape="0">
                <a:srgbClr val="1B2A41">
                  <a:alpha val="8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8412480" y="2926080"/>
              <a:ext cx="3291840" cy="38404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8412480" y="2926080"/>
              <a:ext cx="329184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dim_ship_location</a:t>
              </a:r>
              <a:endParaRPr lang="en-US" sz="12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577072" y="3383280"/>
              <a:ext cx="2962656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ship_postal_code (PK), Type 2 history</a:t>
              </a:r>
              <a:endParaRPr lang="en-US" sz="9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ship_city, ship_state, ship_country</a:t>
              </a:r>
              <a:endParaRPr lang="en-US" sz="9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950" dirty="0">
                  <a:solidFill>
                    <a:srgbClr val="2A35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valid_from, valid_to, is_current, Unknown row</a:t>
              </a:r>
              <a:endParaRPr lang="en-US" sz="95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4297680" y="5074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dim_fulfilment</a:t>
            </a:r>
            <a:endParaRPr lang="en-US" sz="1250" dirty="0"/>
          </a:p>
        </p:txBody>
      </p:sp>
      <p:grpSp>
        <p:nvGrpSpPr>
          <p:cNvPr id="39" name="Group 38"/>
          <p:cNvGrpSpPr/>
          <p:nvPr/>
        </p:nvGrpSpPr>
        <p:grpSpPr>
          <a:xfrm>
            <a:off x="4783859" y="1801368"/>
            <a:ext cx="2404041" cy="1188720"/>
            <a:chOff x="4834566" y="1792224"/>
            <a:chExt cx="2404041" cy="1188720"/>
          </a:xfrm>
        </p:grpSpPr>
        <p:grpSp>
          <p:nvGrpSpPr>
            <p:cNvPr id="34" name="Group 33"/>
            <p:cNvGrpSpPr/>
            <p:nvPr/>
          </p:nvGrpSpPr>
          <p:grpSpPr>
            <a:xfrm>
              <a:off x="4834566" y="1792224"/>
              <a:ext cx="2404041" cy="1188720"/>
              <a:chOff x="4434840" y="1691640"/>
              <a:chExt cx="3291840" cy="118872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4434840" y="1691640"/>
                <a:ext cx="3291840" cy="118872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19050">
                <a:solidFill>
                  <a:srgbClr val="0F6E56"/>
                </a:solidFill>
                <a:prstDash val="solid"/>
              </a:ln>
              <a:effectLst>
                <a:outerShdw blurRad="63500" dist="25400" dir="5400000" algn="bl" rotWithShape="0">
                  <a:srgbClr val="1B2A41">
                    <a:alpha val="8000"/>
                  </a:srgbClr>
                </a:outerShdw>
              </a:effectLst>
            </p:spPr>
          </p:sp>
          <p:sp>
            <p:nvSpPr>
              <p:cNvPr id="10" name="Shape 8"/>
              <p:cNvSpPr/>
              <p:nvPr/>
            </p:nvSpPr>
            <p:spPr>
              <a:xfrm>
                <a:off x="4434840" y="1691640"/>
                <a:ext cx="3291840" cy="384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/>
            </p:spPr>
          </p:sp>
          <p:sp>
            <p:nvSpPr>
              <p:cNvPr id="12" name="Text 10"/>
              <p:cNvSpPr/>
              <p:nvPr/>
            </p:nvSpPr>
            <p:spPr>
              <a:xfrm>
                <a:off x="4599432" y="2148840"/>
                <a:ext cx="2962656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date_key (PK)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year, month, quarter, season</a:t>
                </a:r>
                <a:endParaRPr lang="en-US" sz="950" dirty="0"/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5638688" y="1848643"/>
              <a:ext cx="1416157" cy="2846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50" b="1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</a:t>
              </a:r>
              <a:r>
                <a:rPr lang="en-FI" sz="1250" b="1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</a:t>
              </a:r>
              <a:endParaRPr lang="en-IN" sz="125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619267" y="3301327"/>
            <a:ext cx="2670048" cy="1600200"/>
            <a:chOff x="4619267" y="3346704"/>
            <a:chExt cx="2834640" cy="1691640"/>
          </a:xfrm>
        </p:grpSpPr>
        <p:grpSp>
          <p:nvGrpSpPr>
            <p:cNvPr id="28" name="Group 27"/>
            <p:cNvGrpSpPr/>
            <p:nvPr/>
          </p:nvGrpSpPr>
          <p:grpSpPr>
            <a:xfrm>
              <a:off x="4619267" y="3346704"/>
              <a:ext cx="2834640" cy="1691640"/>
              <a:chOff x="4663440" y="3063240"/>
              <a:chExt cx="2834640" cy="169164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4663440" y="3063240"/>
                <a:ext cx="2834640" cy="1691640"/>
              </a:xfrm>
              <a:prstGeom prst="roundRect">
                <a:avLst>
                  <a:gd name="adj" fmla="val 2703"/>
                </a:avLst>
              </a:prstGeom>
              <a:solidFill>
                <a:srgbClr val="FFFFFF"/>
              </a:solidFill>
              <a:ln w="19050">
                <a:solidFill>
                  <a:srgbClr val="1E3A5F"/>
                </a:solidFill>
                <a:prstDash val="solid"/>
              </a:ln>
              <a:effectLst>
                <a:outerShdw blurRad="63500" dist="25400" dir="5400000" algn="bl" rotWithShape="0">
                  <a:srgbClr val="1B2A41">
                    <a:alpha val="8000"/>
                  </a:srgbClr>
                </a:outerShdw>
              </a:effectLst>
            </p:spPr>
          </p:sp>
          <p:sp>
            <p:nvSpPr>
              <p:cNvPr id="6" name="Shape 4"/>
              <p:cNvSpPr/>
              <p:nvPr/>
            </p:nvSpPr>
            <p:spPr>
              <a:xfrm>
                <a:off x="4663440" y="3063240"/>
                <a:ext cx="2834640" cy="384048"/>
              </a:xfrm>
              <a:prstGeom prst="rect">
                <a:avLst/>
              </a:prstGeom>
              <a:solidFill>
                <a:srgbClr val="1E3A5F"/>
              </a:solidFill>
              <a:ln/>
            </p:spPr>
          </p:sp>
          <p:sp>
            <p:nvSpPr>
              <p:cNvPr id="8" name="Text 6"/>
              <p:cNvSpPr/>
              <p:nvPr/>
            </p:nvSpPr>
            <p:spPr>
              <a:xfrm>
                <a:off x="4828032" y="3520440"/>
                <a:ext cx="2505456" cy="11430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order_line_key (PK)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date_key (FK)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product_sk (FK)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ship_location_sk (FK)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fulfilment_sk (FK)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order_id, qty, amount</a:t>
                </a:r>
                <a:endParaRPr lang="en-US" sz="950" dirty="0"/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5574957" y="3414561"/>
              <a:ext cx="1416157" cy="2846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FI" sz="1250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fct_order_lines</a:t>
              </a:r>
              <a:endParaRPr lang="en-IN" sz="125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686400" y="5271034"/>
            <a:ext cx="3360320" cy="1393213"/>
            <a:chOff x="4395063" y="5367527"/>
            <a:chExt cx="3401568" cy="1393213"/>
          </a:xfrm>
        </p:grpSpPr>
        <p:grpSp>
          <p:nvGrpSpPr>
            <p:cNvPr id="29" name="Group 28"/>
            <p:cNvGrpSpPr/>
            <p:nvPr/>
          </p:nvGrpSpPr>
          <p:grpSpPr>
            <a:xfrm>
              <a:off x="4395063" y="5367527"/>
              <a:ext cx="3401568" cy="1393213"/>
              <a:chOff x="4297680" y="5074920"/>
              <a:chExt cx="3566160" cy="155448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297680" y="5074920"/>
                <a:ext cx="3566160" cy="1554480"/>
              </a:xfrm>
              <a:prstGeom prst="roundRect">
                <a:avLst>
                  <a:gd name="adj" fmla="val 2941"/>
                </a:avLst>
              </a:prstGeom>
              <a:solidFill>
                <a:srgbClr val="FFFFFF"/>
              </a:solidFill>
              <a:ln w="19050">
                <a:solidFill>
                  <a:srgbClr val="0F6E56"/>
                </a:solidFill>
                <a:prstDash val="solid"/>
              </a:ln>
              <a:effectLst>
                <a:outerShdw blurRad="63500" dist="25400" dir="5400000" algn="bl" rotWithShape="0">
                  <a:srgbClr val="1B2A41">
                    <a:alpha val="8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297680" y="5074920"/>
                <a:ext cx="3566160" cy="384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/>
            </p:spPr>
          </p:sp>
          <p:sp>
            <p:nvSpPr>
              <p:cNvPr id="24" name="Text 22"/>
              <p:cNvSpPr/>
              <p:nvPr/>
            </p:nvSpPr>
            <p:spPr>
              <a:xfrm>
                <a:off x="4462272" y="5532120"/>
                <a:ext cx="3236976" cy="1005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fulfilment_sk (PK), junk dim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fulfilment, sales_channel, ship_service_level</a:t>
                </a:r>
                <a:endParaRPr lang="en-US" sz="950" dirty="0"/>
              </a:p>
              <a:p>
                <a:pPr marL="0" indent="0">
                  <a:lnSpc>
                    <a:spcPts val="1300"/>
                  </a:lnSpc>
                  <a:buNone/>
                </a:pPr>
                <a:r>
                  <a:rPr lang="en-US" sz="950" dirty="0">
                    <a:solidFill>
                      <a:srgbClr val="2A35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courier_status, fulfilled_by, is_b2b</a:t>
                </a:r>
                <a:endParaRPr lang="en-US" sz="950" dirty="0"/>
              </a:p>
            </p:txBody>
          </p:sp>
        </p:grpSp>
        <p:sp>
          <p:nvSpPr>
            <p:cNvPr id="40" name="Rectangle 39"/>
            <p:cNvSpPr/>
            <p:nvPr/>
          </p:nvSpPr>
          <p:spPr>
            <a:xfrm>
              <a:off x="5485035" y="5390736"/>
              <a:ext cx="1221622" cy="2846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50" b="1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</a:t>
              </a:r>
              <a:r>
                <a:rPr lang="en-FI" sz="1250" b="1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fulfilment</a:t>
              </a:r>
              <a:endParaRPr lang="en-IN" sz="1250" dirty="0"/>
            </a:p>
          </p:txBody>
        </p:sp>
      </p:grpSp>
      <p:cxnSp>
        <p:nvCxnSpPr>
          <p:cNvPr id="43" name="Elbow Connector 42"/>
          <p:cNvCxnSpPr>
            <a:stCxn id="13" idx="3"/>
            <a:endCxn id="5" idx="1"/>
          </p:cNvCxnSpPr>
          <p:nvPr/>
        </p:nvCxnSpPr>
        <p:spPr>
          <a:xfrm flipV="1">
            <a:off x="3406913" y="4101427"/>
            <a:ext cx="1212354" cy="453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9" idx="2"/>
            <a:endCxn id="5" idx="0"/>
          </p:cNvCxnSpPr>
          <p:nvPr/>
        </p:nvCxnSpPr>
        <p:spPr>
          <a:xfrm rot="5400000">
            <a:off x="5814467" y="3129913"/>
            <a:ext cx="311239" cy="315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2" idx="0"/>
            <a:endCxn id="5" idx="2"/>
          </p:cNvCxnSpPr>
          <p:nvPr/>
        </p:nvCxnSpPr>
        <p:spPr>
          <a:xfrm rot="16200000" flipV="1">
            <a:off x="5975673" y="4880146"/>
            <a:ext cx="369507" cy="4122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17" idx="1"/>
            <a:endCxn id="5" idx="3"/>
          </p:cNvCxnSpPr>
          <p:nvPr/>
        </p:nvCxnSpPr>
        <p:spPr>
          <a:xfrm rot="10800000">
            <a:off x="7289315" y="4101427"/>
            <a:ext cx="1120282" cy="193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Quality, Testing and CI/CD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defends itself against bad data, on every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9514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not_null, accepted_values and relationships tests cover every primary and foreign key across the project.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29514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proof tests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53712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dbt_utils unique_combination_of_columns checks the stated grain of every staging model, the fact table and all 12 marts.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9514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0184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non_negative_or_null generic test guards quantity and amount without over testing intentional nulls.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5354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tests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 rule tests: cancelled lines carry no amount, no future order dates, fact row counts match source, and 3 mart to fact reconciliation checks.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53542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contract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5371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fct_order_lines enforces a dbt contract: column names, order and data types are a stable interface, not just documentation.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53542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0184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0184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dbt deps, parse and compile on every push and pull request, catching broken refs before merge.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5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Mart Layer: 12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F5C6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933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mix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FI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mart_sales_by_region, mart_sales_by_category_style, mart_top_products and mart_size_performance answer what sells best, and where.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E2C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933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trends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49224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MARTS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2240" y="31089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mart_seasonal_trends, mart_monthly_trends and mart_weekday_performance track demand across seasons, months and days of the week.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F5C3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336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46908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22960" y="50566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MARTS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2960" y="5349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mart_order_summary and mart_promotion_performance cover average order value, basket size and whether promotions move volume.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6B4A2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3367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46908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492240" y="50566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92240" y="5349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 smtClean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mart_channel_performance, mart_cancellation_deep_dive and mart_location_repeat_activity flag fulfilment issues and repeat ship to locations.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FI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KPIs, revenue by season and category, month over month growth and weekday pattern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" y="1929384"/>
            <a:ext cx="6748272" cy="382885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</p:sp>
      <p:pic>
        <p:nvPicPr>
          <p:cNvPr id="7" name="Image 0" descr="/home/claude/deck/images/dashboard_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675120" cy="409401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7543800" y="1438101"/>
            <a:ext cx="4069080" cy="1074420"/>
            <a:chOff x="7543800" y="1965960"/>
            <a:chExt cx="4069080" cy="1074420"/>
          </a:xfrm>
        </p:grpSpPr>
        <p:sp>
          <p:nvSpPr>
            <p:cNvPr id="8" name="Shape 5"/>
            <p:cNvSpPr/>
            <p:nvPr/>
          </p:nvSpPr>
          <p:spPr>
            <a:xfrm>
              <a:off x="7543800" y="1965960"/>
              <a:ext cx="4069080" cy="10744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5400000" algn="bl" rotWithShape="0">
                <a:srgbClr val="1B2A41">
                  <a:alpha val="8000"/>
                </a:srgbClr>
              </a:outerShdw>
            </a:effectLst>
          </p:spPr>
        </p:sp>
        <p:sp>
          <p:nvSpPr>
            <p:cNvPr id="9" name="Text 6"/>
            <p:cNvSpPr/>
            <p:nvPr/>
          </p:nvSpPr>
          <p:spPr>
            <a:xfrm>
              <a:off x="7744968" y="2057400"/>
              <a:ext cx="366674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B15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KPI Cards</a:t>
              </a:r>
              <a:endParaRPr lang="en-US" sz="12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744968" y="2350008"/>
              <a:ext cx="3666744" cy="5715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order amount and total order count, the two headline numbers for the page.</a:t>
              </a:r>
              <a:endParaRPr lang="en-US" sz="10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30915" y="2603961"/>
            <a:ext cx="4069080" cy="1334609"/>
            <a:chOff x="7543800" y="3177540"/>
            <a:chExt cx="4069080" cy="1074420"/>
          </a:xfrm>
        </p:grpSpPr>
        <p:sp>
          <p:nvSpPr>
            <p:cNvPr id="11" name="Shape 8"/>
            <p:cNvSpPr/>
            <p:nvPr/>
          </p:nvSpPr>
          <p:spPr>
            <a:xfrm>
              <a:off x="7543800" y="3177540"/>
              <a:ext cx="4069080" cy="10744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5400000" algn="bl" rotWithShape="0">
                <a:srgbClr val="1B2A41">
                  <a:alpha val="8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744968" y="3268980"/>
              <a:ext cx="366674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50" b="1" dirty="0">
                  <a:solidFill>
                    <a:srgbClr val="0B15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by Season and </a:t>
              </a:r>
              <a:r>
                <a:rPr lang="en-US" sz="1250" b="1" dirty="0" smtClean="0">
                  <a:solidFill>
                    <a:srgbClr val="0B15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Category</a:t>
              </a:r>
              <a:endParaRPr lang="en-US" sz="12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744968" y="3653028"/>
              <a:ext cx="3666744" cy="5715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broken out across 9 categories and the seasons observed in the data.</a:t>
              </a:r>
              <a:endPara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lnSpc>
                  <a:spcPts val="1300"/>
                </a:lnSpc>
              </a:pPr>
              <a:r>
                <a:rPr lang="en-US" sz="100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Spring leads by a wide margin over Summer across nearly every category, roughly 50M versus 21M.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endParaRPr lang="en-US" sz="10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43800" y="4052153"/>
            <a:ext cx="4069080" cy="1359432"/>
            <a:chOff x="7543800" y="4389120"/>
            <a:chExt cx="4069080" cy="1074420"/>
          </a:xfrm>
        </p:grpSpPr>
        <p:sp>
          <p:nvSpPr>
            <p:cNvPr id="14" name="Shape 11"/>
            <p:cNvSpPr/>
            <p:nvPr/>
          </p:nvSpPr>
          <p:spPr>
            <a:xfrm>
              <a:off x="7543800" y="4389120"/>
              <a:ext cx="4069080" cy="10744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5400000" algn="bl" rotWithShape="0">
                <a:srgbClr val="1B2A41">
                  <a:alpha val="8000"/>
                </a:srgbClr>
              </a:outerShdw>
            </a:effectLst>
          </p:spPr>
        </p:sp>
        <p:sp>
          <p:nvSpPr>
            <p:cNvPr id="15" name="Text 12"/>
            <p:cNvSpPr/>
            <p:nvPr/>
          </p:nvSpPr>
          <p:spPr>
            <a:xfrm>
              <a:off x="7744968" y="4480560"/>
              <a:ext cx="366674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B15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vs Growth, and </a:t>
              </a:r>
              <a:r>
                <a:rPr lang="en-FI" sz="1250" b="1" dirty="0" smtClean="0">
                  <a:solidFill>
                    <a:srgbClr val="0B15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Weekday Pattern</a:t>
              </a:r>
              <a:endParaRPr lang="en-US" sz="12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732083" y="4846680"/>
              <a:ext cx="3666744" cy="5715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FI" sz="1000" dirty="0" smtClean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by order month plotted against month over month growth rate.</a:t>
              </a:r>
            </a:p>
            <a:p>
              <a:pPr marL="0" indent="0">
                <a:lnSpc>
                  <a:spcPts val="1300"/>
                </a:lnSpc>
                <a:buNone/>
              </a:pPr>
              <a:r>
                <a:rPr lang="en-FI" sz="1000" dirty="0" smtClean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Daily revenue holds steady near 10M, with cancellation rate hovering around 14 to 15 percent.</a:t>
              </a:r>
              <a:endParaRPr lang="en-US" sz="1000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7530915" y="5525168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44968" y="569214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Mix and Fulfilment Status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5984748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majority of orders complete successfully, with a much smaller share fully cancelled. The order mix donut splits total orders into four segments, the largest at 44.57%.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FI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Geography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 and where: top products, size mix, regional spread and category style breakdown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" y="1929384"/>
            <a:ext cx="6748272" cy="38250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</p:sp>
      <p:pic>
        <p:nvPicPr>
          <p:cNvPr id="7" name="Image 0" descr="/home/claude/deck/images/dashboard_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675120" cy="40940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783080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44968" y="187452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KPI Cards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44968" y="2167128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with the highest revenue (Maharashtra) and category with the highest order line count (Set), both computed as dedicated DAX measures.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43800" y="2994660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44968" y="308610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Size and Region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44968" y="3378708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L lead by revenue among sizes. A filled map shows revenue spread across Indian states.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43800" y="4206240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44968" y="429768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Products Matrix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44968" y="4590288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revenue: J0230 SKD M (Set) leads at roughly 4.82 lakh, with avg price per unit and cancellation rate shown per SKU.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43800" y="5417820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44968" y="550926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and </a:t>
            </a:r>
            <a:r>
              <a:rPr lang="en-US" sz="1250" b="1" dirty="0" smtClean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5801868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treemap sized by revenue: Set, kurta and Western Dress form the largest blocks, broken down further by individual style.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FI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5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&amp; Quality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channel performance, cancellation hotspots and repeat location activity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" y="1929384"/>
            <a:ext cx="6748272" cy="38199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</p:sp>
      <p:pic>
        <p:nvPicPr>
          <p:cNvPr id="7" name="Image 0" descr="/home/claude/deck/images/dashboard_p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675120" cy="39296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07224" y="1704109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08392" y="1795549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08392" y="2088157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Fashionable fulfilled orders generate roughly 51M in revenue, more than double Merchant fulfilled orders at 21M.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07224" y="2915689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08392" y="3007129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Deep Dive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08392" y="3299737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by state heatmap, conditionally formatted, surfaces where cancellation rates run highest and lowest.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07224" y="4127269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08392" y="4218709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vs Revenue by Repeat Location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08392" y="4511317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that ordered more than once cluster on a rising line: more orders track with more revenue.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07224" y="5338849"/>
            <a:ext cx="4069080" cy="10744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08392" y="5430289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Performance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08392" y="5722897"/>
            <a:ext cx="3666744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category, split by whether a promotion was applied, with average price per unit overlaid as a line.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tells us about customers, products and regions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9164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91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6733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drives far more revenue than Summer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22199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nearly every category, Spring revenue runs well ahead of Summer, roughly 50M versus 21M, a clear signal for seasonal planning.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69164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91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04888" y="16733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sits at 695 rupees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64808" y="222199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120K plus orders, the average order amount is 695.36 rupees, a useful baseline for tracking promotional lift.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38328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83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3649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and Set lead their categories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91363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leads every state by revenue, and Set leads every category by order line count, both confirmed with dedicated DAX measures.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20040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338328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383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33649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Fashionable fulfilled orders far outsell Merchant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64808" y="391363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Fashionable fulfilled orders bring in roughly 51M in revenue against 21M for Merchant fulfilled orders, a 2 to 1 split worth understanding.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507492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074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5056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is highly uneven by category and state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560527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by state heatmap shows some combinations cancelling far more than others, a concrete target list for operations.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89204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5074920"/>
            <a:ext cx="502920" cy="38404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5074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04888" y="5056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locations show revenue scaling with order count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64808" y="5605272"/>
            <a:ext cx="5038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ship to locations that ordered more than once, revenue rises roughly in step with order count, a proxy signal for loyal demand.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5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FI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added as next steps</a:t>
            </a:r>
            <a:r>
              <a:rPr lang="en-US" sz="1300" i="1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more time or more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29514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CI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CI past parse and compile: run dbt test in GitHub Actions against a small seeded fixture 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</a:t>
            </a:r>
            <a:r>
              <a:rPr lang="en-FI" sz="100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Orchestrators can come into picture is data is from API, like Airflow or Dagster.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29514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date history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53712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covers 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one year of data.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more than 2 years 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season and trend analysis much more reliable.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16712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29514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cost data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0184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cost-of-goods would let us calculate margin, not just 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 sharper view for marketeers.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5354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dimension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dim_customer table (if an anonymised customer ID becomes available) would unlock repeat-purchase and cohort analysis.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53542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everywhere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5371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enforced dbt contract and Type 2 history from fct_order_lines and 2 dimensions to the full model.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4206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4407408"/>
            <a:ext cx="502920" cy="502920"/>
          </a:xfrm>
          <a:prstGeom prst="ellipse">
            <a:avLst/>
          </a:prstGeom>
          <a:solidFill>
            <a:srgbClr val="0B1525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53542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0184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refresh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0184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Python load + dbt run + Power BI refresh end-to-end instead of running each step </a:t>
            </a:r>
            <a:r>
              <a:rPr lang="en-US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  <a:r>
              <a:rPr lang="en-FI" sz="100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connecting directly to duckdb or any db tables.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2294</Words>
  <Application>Microsoft Office PowerPoint</Application>
  <PresentationFormat>Widescreen</PresentationFormat>
  <Paragraphs>257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Fashionable Sales Report — Data Warehouse &amp; Dashboard</dc:title>
  <dc:subject>PptxGenJS Presentation</dc:subject>
  <dc:creator>Fashionable Analytics</dc:creator>
  <cp:lastModifiedBy>KaelThas</cp:lastModifiedBy>
  <cp:revision>20</cp:revision>
  <dcterms:created xsi:type="dcterms:W3CDTF">2026-06-19T11:29:33Z</dcterms:created>
  <dcterms:modified xsi:type="dcterms:W3CDTF">2026-07-31T10:10:45Z</dcterms:modified>
</cp:coreProperties>
</file>